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8" r:id="rId1"/>
  </p:sldMasterIdLst>
  <p:notesMasterIdLst>
    <p:notesMasterId r:id="rId3"/>
  </p:notesMasterIdLst>
  <p:handoutMasterIdLst>
    <p:handoutMasterId r:id="rId4"/>
  </p:handoutMasterIdLst>
  <p:sldIdLst>
    <p:sldId id="515758148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0" orient="horz" pos="799" userDrawn="1">
          <p15:clr>
            <a:srgbClr val="A4A3A4"/>
          </p15:clr>
        </p15:guide>
        <p15:guide id="12" pos="1685" userDrawn="1">
          <p15:clr>
            <a:srgbClr val="A4A3A4"/>
          </p15:clr>
        </p15:guide>
        <p15:guide id="13" orient="horz" pos="232" userDrawn="1">
          <p15:clr>
            <a:srgbClr val="A4A3A4"/>
          </p15:clr>
        </p15:guide>
        <p15:guide id="16" orient="horz" pos="3906" userDrawn="1">
          <p15:clr>
            <a:srgbClr val="A4A3A4"/>
          </p15:clr>
        </p15:guide>
        <p15:guide id="20" pos="1912" userDrawn="1">
          <p15:clr>
            <a:srgbClr val="A4A3A4"/>
          </p15:clr>
        </p15:guide>
        <p15:guide id="21" pos="3636" userDrawn="1">
          <p15:clr>
            <a:srgbClr val="A4A3A4"/>
          </p15:clr>
        </p15:guide>
        <p15:guide id="22" pos="5473" userDrawn="1">
          <p15:clr>
            <a:srgbClr val="A4A3A4"/>
          </p15:clr>
        </p15:guide>
        <p15:guide id="24" pos="4679" userDrawn="1">
          <p15:clr>
            <a:srgbClr val="A4A3A4"/>
          </p15:clr>
        </p15:guide>
        <p15:guide id="25" pos="279" userDrawn="1">
          <p15:clr>
            <a:srgbClr val="A4A3A4"/>
          </p15:clr>
        </p15:guide>
        <p15:guide id="26" pos="4498" userDrawn="1">
          <p15:clr>
            <a:srgbClr val="A4A3A4"/>
          </p15:clr>
        </p15:guide>
        <p15:guide id="27" orient="horz" pos="1230" userDrawn="1">
          <p15:clr>
            <a:srgbClr val="A4A3A4"/>
          </p15:clr>
        </p15:guide>
        <p15:guide id="28" orient="horz" pos="1933" userDrawn="1">
          <p15:clr>
            <a:srgbClr val="A4A3A4"/>
          </p15:clr>
        </p15:guide>
        <p15:guide id="29" orient="horz" pos="1502" userDrawn="1">
          <p15:clr>
            <a:srgbClr val="A4A3A4"/>
          </p15:clr>
        </p15:guide>
        <p15:guide id="30" orient="horz" pos="3680" userDrawn="1">
          <p15:clr>
            <a:srgbClr val="A4A3A4"/>
          </p15:clr>
        </p15:guide>
        <p15:guide id="31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7EE2A91-04D3-8DCB-393A-1344B9AB0EF2}" name="Tanigawa Chika" initials="" userId="S::Chika.Tanigawa@ascentnetworks.onmicrosoft.com::6bb8955f-e061-4b3b-999e-05c07059a15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F2F2F2"/>
    <a:srgbClr val="D5DDE9"/>
    <a:srgbClr val="5A9EFF"/>
    <a:srgbClr val="599EFE"/>
    <a:srgbClr val="0B7DFD"/>
    <a:srgbClr val="FF4337"/>
    <a:srgbClr val="1E36DE"/>
    <a:srgbClr val="05058A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27F97BB-C833-4FB7-BDE5-3F7075034690}" styleName="テーマ スタイル 2 - アクセント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246" autoAdjust="0"/>
    <p:restoredTop sz="95028" autoAdjust="0"/>
  </p:normalViewPr>
  <p:slideViewPr>
    <p:cSldViewPr snapToGrid="0" showGuides="1">
      <p:cViewPr varScale="1">
        <p:scale>
          <a:sx n="116" d="100"/>
          <a:sy n="116" d="100"/>
        </p:scale>
        <p:origin x="1064" y="184"/>
      </p:cViewPr>
      <p:guideLst>
        <p:guide orient="horz" pos="799"/>
        <p:guide pos="1685"/>
        <p:guide orient="horz" pos="232"/>
        <p:guide orient="horz" pos="3906"/>
        <p:guide pos="1912"/>
        <p:guide pos="3636"/>
        <p:guide pos="5473"/>
        <p:guide pos="4679"/>
        <p:guide pos="279"/>
        <p:guide pos="4498"/>
        <p:guide orient="horz" pos="1230"/>
        <p:guide orient="horz" pos="1933"/>
        <p:guide orient="horz" pos="1502"/>
        <p:guide orient="horz" pos="3680"/>
        <p:guide orient="horz" pos="2160"/>
      </p:guideLst>
    </p:cSldViewPr>
  </p:slideViewPr>
  <p:notesTextViewPr>
    <p:cViewPr>
      <p:scale>
        <a:sx n="105" d="100"/>
        <a:sy n="105" d="100"/>
      </p:scale>
      <p:origin x="0" y="0"/>
    </p:cViewPr>
  </p:notesTextViewPr>
  <p:sorterViewPr>
    <p:cViewPr varScale="1">
      <p:scale>
        <a:sx n="1" d="1"/>
        <a:sy n="1" d="1"/>
      </p:scale>
      <p:origin x="0" y="-16686"/>
    </p:cViewPr>
  </p:sorterViewPr>
  <p:notesViewPr>
    <p:cSldViewPr snapToGrid="0" showGuides="1">
      <p:cViewPr varScale="1">
        <p:scale>
          <a:sx n="87" d="100"/>
          <a:sy n="87" d="100"/>
        </p:scale>
        <p:origin x="390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9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0E60EB21-4890-4246-6538-C4A3598928B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C014D80-4A56-7768-0421-039A246DA7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D0CA1-2D54-B848-984A-5C7D2E575694}" type="datetimeFigureOut">
              <a:rPr kumimoji="1" lang="ja-JP" altLang="en-US" smtClean="0"/>
              <a:t>2026/9/28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8B8B0F6-7754-707C-73DD-5ED0EA4A793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7014707-A965-949B-B72B-9E4E9C140C8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7E3939-2D73-664E-99D9-B21842AA07B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77794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7575C664-24DF-BC49-865C-58793F1F825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 i="0">
                <a:latin typeface="Meiryo UI" panose="020B0604030504040204" pitchFamily="34" charset="-128"/>
                <a:ea typeface="Yu Gothic" panose="020B0400000000000000" pitchFamily="34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9AAD030-DFF0-9340-AEDB-A390D8959BA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b="0" i="0" smtClean="0">
                <a:latin typeface="Meiryo UI" panose="020B0604030504040204" pitchFamily="34" charset="-128"/>
                <a:ea typeface="Yu Gothic" panose="020B0400000000000000" pitchFamily="34" charset="-128"/>
              </a:defRPr>
            </a:lvl1pPr>
          </a:lstStyle>
          <a:p>
            <a:pPr>
              <a:defRPr/>
            </a:pPr>
            <a:fld id="{6D7D8D21-847A-FC4A-A027-378C2035830C}" type="datetimeFigureOut">
              <a:rPr lang="ja-JP" altLang="en-US" smtClean="0"/>
              <a:pPr>
                <a:defRPr/>
              </a:pPr>
              <a:t>2026/9/28</a:t>
            </a:fld>
            <a:endParaRPr lang="ja-JP" altLang="en-US"/>
          </a:p>
        </p:txBody>
      </p:sp>
      <p:sp>
        <p:nvSpPr>
          <p:cNvPr id="4" name="スライド イメージ プレースホルダー 3">
            <a:extLst>
              <a:ext uri="{FF2B5EF4-FFF2-40B4-BE49-F238E27FC236}">
                <a16:creationId xmlns:a16="http://schemas.microsoft.com/office/drawing/2014/main" id="{12229736-B5D8-2A42-84DE-40E69C71AB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ja-JP" altLang="en-US" noProof="0"/>
          </a:p>
        </p:txBody>
      </p:sp>
      <p:sp>
        <p:nvSpPr>
          <p:cNvPr id="5" name="ノート プレースホルダー 4">
            <a:extLst>
              <a:ext uri="{FF2B5EF4-FFF2-40B4-BE49-F238E27FC236}">
                <a16:creationId xmlns:a16="http://schemas.microsoft.com/office/drawing/2014/main" id="{00EDFE84-F042-6C4E-AF06-225BED7B1D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 dirty="0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 dirty="0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 dirty="0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 dirty="0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A1E05FC-4EE1-DA46-93D6-E9A3202E0A1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 i="0">
                <a:latin typeface="Meiryo UI" panose="020B0604030504040204" pitchFamily="34" charset="-128"/>
                <a:ea typeface="Yu Gothic" panose="020B0400000000000000" pitchFamily="34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2450C69-AA80-7742-BE3E-914C9C3479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b="0" i="0" smtClean="0">
                <a:latin typeface="Meiryo UI" panose="020B0604030504040204" pitchFamily="34" charset="-128"/>
                <a:ea typeface="Yu Gothic" panose="020B0400000000000000" pitchFamily="34" charset="-128"/>
              </a:defRPr>
            </a:lvl1pPr>
          </a:lstStyle>
          <a:p>
            <a:pPr>
              <a:defRPr/>
            </a:pPr>
            <a:fld id="{2CE42A34-F524-594B-A9AB-52D4263244E6}" type="slidenum">
              <a:rPr lang="ja-JP" altLang="en-US" smtClean="0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b="0" i="0" kern="1200">
        <a:solidFill>
          <a:schemeClr val="tx1"/>
        </a:solidFill>
        <a:latin typeface="Meiryo UI" panose="020B0604030504040204" pitchFamily="34" charset="-128"/>
        <a:ea typeface="Yu Gothic" panose="020B0400000000000000" pitchFamily="34" charset="-128"/>
        <a:cs typeface="+mn-cs"/>
      </a:defRPr>
    </a:lvl1pPr>
    <a:lvl2pPr algn="l" rtl="0" eaLnBrk="0" fontAlgn="base" hangingPunct="0">
      <a:spcBef>
        <a:spcPct val="30000"/>
      </a:spcBef>
      <a:spcAft>
        <a:spcPct val="0"/>
      </a:spcAft>
      <a:defRPr sz="1200" b="0" i="0">
        <a:solidFill>
          <a:schemeClr val="tx1"/>
        </a:solidFill>
        <a:latin typeface="Meiryo UI" panose="020B0604030504040204" pitchFamily="34" charset="-128"/>
        <a:ea typeface="Yu Gothic" panose="020B0400000000000000" pitchFamily="34" charset="-128"/>
      </a:defRPr>
    </a:lvl2pPr>
    <a:lvl3pPr algn="l" rtl="0" eaLnBrk="0" fontAlgn="base" hangingPunct="0">
      <a:spcBef>
        <a:spcPct val="30000"/>
      </a:spcBef>
      <a:spcAft>
        <a:spcPct val="0"/>
      </a:spcAft>
      <a:defRPr sz="1200" b="0" i="0">
        <a:solidFill>
          <a:schemeClr val="tx1"/>
        </a:solidFill>
        <a:latin typeface="Meiryo UI" panose="020B0604030504040204" pitchFamily="34" charset="-128"/>
        <a:ea typeface="Yu Gothic" panose="020B0400000000000000" pitchFamily="34" charset="-128"/>
      </a:defRPr>
    </a:lvl3pPr>
    <a:lvl4pPr algn="l" rtl="0" eaLnBrk="0" fontAlgn="base" hangingPunct="0">
      <a:spcBef>
        <a:spcPct val="30000"/>
      </a:spcBef>
      <a:spcAft>
        <a:spcPct val="0"/>
      </a:spcAft>
      <a:defRPr sz="1200" b="0" i="0">
        <a:solidFill>
          <a:schemeClr val="tx1"/>
        </a:solidFill>
        <a:latin typeface="Meiryo UI" panose="020B0604030504040204" pitchFamily="34" charset="-128"/>
        <a:ea typeface="Yu Gothic" panose="020B0400000000000000" pitchFamily="34" charset="-128"/>
      </a:defRPr>
    </a:lvl4pPr>
    <a:lvl5pPr algn="l" rtl="0" eaLnBrk="0" fontAlgn="base" hangingPunct="0">
      <a:spcBef>
        <a:spcPct val="30000"/>
      </a:spcBef>
      <a:spcAft>
        <a:spcPct val="0"/>
      </a:spcAft>
      <a:defRPr sz="1200" b="0" i="0">
        <a:solidFill>
          <a:schemeClr val="tx1"/>
        </a:solidFill>
        <a:latin typeface="Meiryo UI" panose="020B0604030504040204" pitchFamily="34" charset="-128"/>
        <a:ea typeface="Yu Gothic" panose="020B0400000000000000" pitchFamily="34" charset="-128"/>
      </a:defRPr>
    </a:lvl5pPr>
    <a:lvl6pPr marL="457200" algn="l" rtl="0" eaLnBrk="0" fontAlgn="base" hangingPunct="0">
      <a:spcBef>
        <a:spcPct val="30000"/>
      </a:spcBef>
      <a:spcAft>
        <a:spcPct val="0"/>
      </a:spcAft>
      <a:defRPr sz="1200">
        <a:solidFill>
          <a:schemeClr val="tx1"/>
        </a:solidFill>
        <a:latin typeface="Arial" panose="020B0604020202020204" pitchFamily="34" charset="0"/>
        <a:ea typeface="Meiryo UI" panose="020B0604030504040204" pitchFamily="34" charset="-128"/>
      </a:defRPr>
    </a:lvl6pPr>
    <a:lvl7pPr marL="914400" algn="l" rtl="0" eaLnBrk="0" fontAlgn="base" hangingPunct="0">
      <a:spcBef>
        <a:spcPct val="30000"/>
      </a:spcBef>
      <a:spcAft>
        <a:spcPct val="0"/>
      </a:spcAft>
      <a:defRPr sz="1200">
        <a:solidFill>
          <a:schemeClr val="tx1"/>
        </a:solidFill>
        <a:latin typeface="Arial" panose="020B0604020202020204" pitchFamily="34" charset="0"/>
        <a:ea typeface="Meiryo UI" panose="020B0604030504040204" pitchFamily="34" charset="-128"/>
      </a:defRPr>
    </a:lvl7pPr>
    <a:lvl8pPr marL="1371600" algn="l" rtl="0" eaLnBrk="0" fontAlgn="base" hangingPunct="0">
      <a:spcBef>
        <a:spcPct val="30000"/>
      </a:spcBef>
      <a:spcAft>
        <a:spcPct val="0"/>
      </a:spcAft>
      <a:defRPr sz="1200">
        <a:solidFill>
          <a:schemeClr val="tx1"/>
        </a:solidFill>
        <a:latin typeface="Arial" panose="020B0604020202020204" pitchFamily="34" charset="0"/>
        <a:ea typeface="Meiryo UI" panose="020B0604030504040204" pitchFamily="34" charset="-128"/>
      </a:defRPr>
    </a:lvl8pPr>
    <a:lvl9pPr marL="1828800" algn="l" rtl="0" eaLnBrk="0" fontAlgn="base" hangingPunct="0">
      <a:spcBef>
        <a:spcPct val="30000"/>
      </a:spcBef>
      <a:spcAft>
        <a:spcPct val="0"/>
      </a:spcAft>
      <a:defRPr sz="1200">
        <a:solidFill>
          <a:schemeClr val="tx1"/>
        </a:solidFill>
        <a:latin typeface="Arial" panose="020B0604020202020204" pitchFamily="34" charset="0"/>
        <a:ea typeface="Meiryo UI" panose="020B0604030504040204" pitchFamily="34" charset="-128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8D81E-11C0-08DB-7AF9-66D9AB4DA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6D1387C-4674-37CE-5A3E-0776AAABDE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31CB95F-C9CA-91DB-0344-DF03989E7E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CB6DF7D-B62F-3BA6-DBC6-276C21EA8E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9552E-018F-DF47-AF74-867926E36397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4316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repor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22D3F2E3-B210-5873-5060-AAA29D19E80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1659" y="68215"/>
            <a:ext cx="1315379" cy="229017"/>
          </a:xfrm>
          <a:prstGeom prst="rect">
            <a:avLst/>
          </a:prstGeom>
        </p:spPr>
      </p:pic>
      <p:sp>
        <p:nvSpPr>
          <p:cNvPr id="6" name="タイトル 4">
            <a:extLst>
              <a:ext uri="{FF2B5EF4-FFF2-40B4-BE49-F238E27FC236}">
                <a16:creationId xmlns:a16="http://schemas.microsoft.com/office/drawing/2014/main" id="{6C58E241-9B4F-D9E5-1704-EC0E02FE3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942" y="296863"/>
            <a:ext cx="11503408" cy="611187"/>
          </a:xfrm>
          <a:prstGeom prst="rect">
            <a:avLst/>
          </a:prstGeom>
        </p:spPr>
        <p:txBody>
          <a:bodyPr wrap="square"/>
          <a:lstStyle>
            <a:lvl1pPr>
              <a:defRPr lang="ja-JP" altLang="en-US" sz="2000" b="1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Samsung Sharp Sans Bold" pitchFamily="2" charset="0"/>
              </a:defRPr>
            </a:lvl1pPr>
          </a:lstStyle>
          <a:p>
            <a:pPr marL="0" lvl="0"/>
            <a:r>
              <a:rPr kumimoji="1" lang="ja-JP" altLang="en-US"/>
              <a:t>マスター タイトルの書式設定</a:t>
            </a:r>
          </a:p>
        </p:txBody>
      </p:sp>
      <p:sp>
        <p:nvSpPr>
          <p:cNvPr id="7" name="テキスト プレースホルダー 10">
            <a:extLst>
              <a:ext uri="{FF2B5EF4-FFF2-40B4-BE49-F238E27FC236}">
                <a16:creationId xmlns:a16="http://schemas.microsoft.com/office/drawing/2014/main" id="{4C464BDC-FDBD-986C-F7FE-A6C256A5B4D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8942" y="1090111"/>
            <a:ext cx="11838370" cy="61118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ja-JP" altLang="en-US" sz="1200" b="0" i="0" kern="1200" smtClean="0">
                <a:solidFill>
                  <a:srgbClr val="000000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Samsung Sharp Sans Regular" panose="02000503000000020004" pitchFamily="2" charset="0"/>
              </a:defRPr>
            </a:lvl1pPr>
            <a:lvl2pPr>
              <a:defRPr lang="ja-JP" altLang="en-US" smtClean="0"/>
            </a:lvl2pPr>
            <a:lvl3pPr>
              <a:defRPr lang="ja-JP" altLang="en-US" smtClean="0"/>
            </a:lvl3pPr>
            <a:lvl4pPr>
              <a:defRPr lang="ja-JP" altLang="en-US" smtClean="0"/>
            </a:lvl4pPr>
            <a:lvl5pPr>
              <a:defRPr lang="ja-JP" altLang="en-US"/>
            </a:lvl5pPr>
          </a:lstStyle>
          <a:p>
            <a:pPr marL="172800" marR="0" lvl="0" indent="-172800" algn="l" defTabSz="914400" rtl="0" fontAlgn="auto" latinLnBrk="0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1" lang="ja-JP" altLang="en-US"/>
              <a:t>マスター テキストの書式設定</a:t>
            </a:r>
          </a:p>
        </p:txBody>
      </p:sp>
      <p:sp>
        <p:nvSpPr>
          <p:cNvPr id="8" name="コンテンツ プレースホルダー 13">
            <a:extLst>
              <a:ext uri="{FF2B5EF4-FFF2-40B4-BE49-F238E27FC236}">
                <a16:creationId xmlns:a16="http://schemas.microsoft.com/office/drawing/2014/main" id="{A6769580-5DCD-60D3-AC09-36BE2B8196B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49650" y="6624637"/>
            <a:ext cx="11347050" cy="215444"/>
          </a:xfrm>
          <a:prstGeom prst="rect">
            <a:avLst/>
          </a:prstGeom>
        </p:spPr>
        <p:txBody>
          <a:bodyPr vert="horz" lIns="0" tIns="36000" rIns="0" bIns="36000" rtlCol="0" anchor="b">
            <a:noAutofit/>
          </a:bodyPr>
          <a:lstStyle>
            <a:lvl1pPr marL="0" indent="0">
              <a:buNone/>
              <a:defRPr lang="ja-JP" altLang="en-US" sz="800" b="0" i="0" kern="1200" smtClean="0">
                <a:solidFill>
                  <a:schemeClr val="bg1">
                    <a:lumMod val="5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pPr marL="171450" lvl="0" indent="-171450" algn="l" defTabSz="914400" rtl="0" latinLnBrk="0">
              <a:lnSpc>
                <a:spcPct val="100000"/>
              </a:lnSpc>
              <a:spcBef>
                <a:spcPts val="0"/>
              </a:spcBef>
              <a:buClr>
                <a:schemeClr val="bg1">
                  <a:lumMod val="50000"/>
                </a:schemeClr>
              </a:buClr>
              <a:buFont typeface="Meiryo UI" panose="020B0604030504040204" pitchFamily="34" charset="-128"/>
              <a:buChar char="※"/>
            </a:pPr>
            <a:r>
              <a:rPr kumimoji="1" lang="en-US" altLang="ja-JP" dirty="0"/>
              <a:t>Text</a:t>
            </a:r>
          </a:p>
          <a:p>
            <a:pPr marL="171450" lvl="0" indent="-171450" algn="l" defTabSz="914400" rtl="0" latinLnBrk="0">
              <a:lnSpc>
                <a:spcPct val="100000"/>
              </a:lnSpc>
              <a:spcBef>
                <a:spcPts val="0"/>
              </a:spcBef>
              <a:buClr>
                <a:schemeClr val="bg1">
                  <a:lumMod val="50000"/>
                </a:schemeClr>
              </a:buClr>
              <a:buFont typeface="Meiryo UI" panose="020B0604030504040204" pitchFamily="34" charset="-128"/>
              <a:buChar char="※"/>
            </a:pPr>
            <a:r>
              <a:rPr kumimoji="1" lang="en-US" altLang="ja-JP" dirty="0"/>
              <a:t>Text</a:t>
            </a:r>
            <a:endParaRPr kumimoji="1" lang="ja-JP" altLang="en-US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795DA729-B4DC-23C8-AA4C-D1BC1775546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6265"/>
          <a:stretch>
            <a:fillRect/>
          </a:stretch>
        </p:blipFill>
        <p:spPr>
          <a:xfrm>
            <a:off x="343328" y="1200299"/>
            <a:ext cx="2673004" cy="5291886"/>
          </a:xfrm>
          <a:prstGeom prst="rect">
            <a:avLst/>
          </a:prstGeom>
        </p:spPr>
      </p:pic>
      <p:sp>
        <p:nvSpPr>
          <p:cNvPr id="3" name="PageLabel">
            <a:extLst>
              <a:ext uri="{FF2B5EF4-FFF2-40B4-BE49-F238E27FC236}">
                <a16:creationId xmlns:a16="http://schemas.microsoft.com/office/drawing/2014/main" id="{6B799CE7-7D20-436E-57C1-E790391608E7}"/>
              </a:ext>
            </a:extLst>
          </p:cNvPr>
          <p:cNvSpPr txBox="1">
            <a:spLocks/>
          </p:cNvSpPr>
          <p:nvPr userDrawn="1"/>
        </p:nvSpPr>
        <p:spPr>
          <a:xfrm>
            <a:off x="345237" y="-10274"/>
            <a:ext cx="11453303" cy="304758"/>
          </a:xfrm>
          <a:prstGeom prst="rect">
            <a:avLst/>
          </a:prstGeom>
        </p:spPr>
        <p:txBody>
          <a:bodyPr wrap="square" anchor="ctr"/>
          <a:lstStyle>
            <a:defPPr>
              <a:defRPr lang="ja-JP"/>
            </a:defPPr>
            <a:lvl1pPr>
              <a:defRPr sz="1100" b="1" kern="0">
                <a:solidFill>
                  <a:schemeClr val="bg1">
                    <a:lumMod val="5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lang="ja-JP" altLang="ja-JP"/>
              <a:t>Technical SEO Checker</a:t>
            </a:r>
          </a:p>
        </p:txBody>
      </p:sp>
    </p:spTree>
    <p:extLst>
      <p:ext uri="{BB962C8B-B14F-4D97-AF65-F5344CB8AC3E}">
        <p14:creationId xmlns:p14="http://schemas.microsoft.com/office/powerpoint/2010/main" val="2002350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660">
          <p15:clr>
            <a:srgbClr val="FBAE40"/>
          </p15:clr>
        </p15:guide>
        <p15:guide id="7" orient="horz" pos="4065">
          <p15:clr>
            <a:srgbClr val="FBAE40"/>
          </p15:clr>
        </p15:guide>
        <p15:guide id="8" pos="3840">
          <p15:clr>
            <a:srgbClr val="FBAE40"/>
          </p15:clr>
        </p15:guide>
        <p15:guide id="9" orient="horz" pos="164">
          <p15:clr>
            <a:srgbClr val="FBAE40"/>
          </p15:clr>
        </p15:guide>
        <p15:guide id="10" orient="horz" pos="1412">
          <p15:clr>
            <a:srgbClr val="FBAE40"/>
          </p15:clr>
        </p15:guide>
        <p15:guide id="11" pos="211">
          <p15:clr>
            <a:srgbClr val="FBAE40"/>
          </p15:clr>
        </p15:guide>
        <p15:guide id="12" pos="746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0023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</p:sldLayoutIdLst>
  <p:hf hdr="0" ftr="0" dt="0"/>
  <p:txStyles>
    <p:titleStyle>
      <a:lvl1pPr eaLnBrk="1" hangingPunct="1">
        <a:defRPr kumimoji="1" sz="750">
          <a:latin typeface="SamsungOne 700" panose="020B0803030303020204" pitchFamily="34" charset="0"/>
          <a:ea typeface="+mj-ea"/>
          <a:cs typeface="+mj-cs"/>
        </a:defRPr>
      </a:lvl1pPr>
    </p:titleStyle>
    <p:bodyStyle>
      <a:lvl1pPr marL="0" eaLnBrk="1" hangingPunct="1">
        <a:defRPr kumimoji="1">
          <a:latin typeface="+mn-lt"/>
          <a:ea typeface="+mn-ea"/>
          <a:cs typeface="+mn-cs"/>
        </a:defRPr>
      </a:lvl1pPr>
      <a:lvl2pPr marL="277262" eaLnBrk="1" hangingPunct="1">
        <a:defRPr kumimoji="1">
          <a:latin typeface="+mn-lt"/>
          <a:ea typeface="+mn-ea"/>
          <a:cs typeface="+mn-cs"/>
        </a:defRPr>
      </a:lvl2pPr>
      <a:lvl3pPr marL="554524" eaLnBrk="1" hangingPunct="1">
        <a:defRPr kumimoji="1">
          <a:latin typeface="+mn-lt"/>
          <a:ea typeface="+mn-ea"/>
          <a:cs typeface="+mn-cs"/>
        </a:defRPr>
      </a:lvl3pPr>
      <a:lvl4pPr marL="831786" eaLnBrk="1" hangingPunct="1">
        <a:defRPr kumimoji="1">
          <a:latin typeface="+mn-lt"/>
          <a:ea typeface="+mn-ea"/>
          <a:cs typeface="+mn-cs"/>
        </a:defRPr>
      </a:lvl4pPr>
      <a:lvl5pPr marL="1109048" eaLnBrk="1" hangingPunct="1">
        <a:defRPr kumimoji="1">
          <a:latin typeface="+mn-lt"/>
          <a:ea typeface="+mn-ea"/>
          <a:cs typeface="+mn-cs"/>
        </a:defRPr>
      </a:lvl5pPr>
      <a:lvl6pPr marL="1386310" eaLnBrk="1" hangingPunct="1">
        <a:defRPr kumimoji="1">
          <a:latin typeface="+mn-lt"/>
          <a:ea typeface="+mn-ea"/>
          <a:cs typeface="+mn-cs"/>
        </a:defRPr>
      </a:lvl6pPr>
      <a:lvl7pPr marL="1663570" eaLnBrk="1" hangingPunct="1">
        <a:defRPr kumimoji="1">
          <a:latin typeface="+mn-lt"/>
          <a:ea typeface="+mn-ea"/>
          <a:cs typeface="+mn-cs"/>
        </a:defRPr>
      </a:lvl7pPr>
      <a:lvl8pPr marL="1940834" eaLnBrk="1" hangingPunct="1">
        <a:defRPr kumimoji="1">
          <a:latin typeface="+mn-lt"/>
          <a:ea typeface="+mn-ea"/>
          <a:cs typeface="+mn-cs"/>
        </a:defRPr>
      </a:lvl8pPr>
      <a:lvl9pPr marL="2218095" eaLnBrk="1" hangingPunct="1">
        <a:defRPr kumimoji="1">
          <a:latin typeface="+mn-lt"/>
          <a:ea typeface="+mn-ea"/>
          <a:cs typeface="+mn-cs"/>
        </a:defRPr>
      </a:lvl9pPr>
    </p:bodyStyle>
    <p:otherStyle>
      <a:lvl1pPr marL="0" eaLnBrk="1" hangingPunct="1">
        <a:defRPr kumimoji="1">
          <a:latin typeface="+mn-lt"/>
          <a:ea typeface="+mn-ea"/>
          <a:cs typeface="+mn-cs"/>
        </a:defRPr>
      </a:lvl1pPr>
      <a:lvl2pPr marL="277262" eaLnBrk="1" hangingPunct="1">
        <a:defRPr kumimoji="1">
          <a:latin typeface="+mn-lt"/>
          <a:ea typeface="+mn-ea"/>
          <a:cs typeface="+mn-cs"/>
        </a:defRPr>
      </a:lvl2pPr>
      <a:lvl3pPr marL="554524" eaLnBrk="1" hangingPunct="1">
        <a:defRPr kumimoji="1">
          <a:latin typeface="+mn-lt"/>
          <a:ea typeface="+mn-ea"/>
          <a:cs typeface="+mn-cs"/>
        </a:defRPr>
      </a:lvl3pPr>
      <a:lvl4pPr marL="831786" eaLnBrk="1" hangingPunct="1">
        <a:defRPr kumimoji="1">
          <a:latin typeface="+mn-lt"/>
          <a:ea typeface="+mn-ea"/>
          <a:cs typeface="+mn-cs"/>
        </a:defRPr>
      </a:lvl4pPr>
      <a:lvl5pPr marL="1109048" eaLnBrk="1" hangingPunct="1">
        <a:defRPr kumimoji="1">
          <a:latin typeface="+mn-lt"/>
          <a:ea typeface="+mn-ea"/>
          <a:cs typeface="+mn-cs"/>
        </a:defRPr>
      </a:lvl5pPr>
      <a:lvl6pPr marL="1386310" eaLnBrk="1" hangingPunct="1">
        <a:defRPr kumimoji="1">
          <a:latin typeface="+mn-lt"/>
          <a:ea typeface="+mn-ea"/>
          <a:cs typeface="+mn-cs"/>
        </a:defRPr>
      </a:lvl6pPr>
      <a:lvl7pPr marL="1663570" eaLnBrk="1" hangingPunct="1">
        <a:defRPr kumimoji="1">
          <a:latin typeface="+mn-lt"/>
          <a:ea typeface="+mn-ea"/>
          <a:cs typeface="+mn-cs"/>
        </a:defRPr>
      </a:lvl7pPr>
      <a:lvl8pPr marL="1940834" eaLnBrk="1" hangingPunct="1">
        <a:defRPr kumimoji="1">
          <a:latin typeface="+mn-lt"/>
          <a:ea typeface="+mn-ea"/>
          <a:cs typeface="+mn-cs"/>
        </a:defRPr>
      </a:lvl8pPr>
      <a:lvl9pPr marL="2218095" eaLnBrk="1" hangingPunct="1">
        <a:defRPr kumimoji="1"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187">
          <p15:clr>
            <a:srgbClr val="F26B43"/>
          </p15:clr>
        </p15:guide>
        <p15:guide id="27" orient="horz" pos="686">
          <p15:clr>
            <a:srgbClr val="F26B43"/>
          </p15:clr>
        </p15:guide>
        <p15:guide id="31" pos="21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B4C78-898E-4BA1-3830-22B8D659D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2">
            <a:extLst>
              <a:ext uri="{FF2B5EF4-FFF2-40B4-BE49-F238E27FC236}">
                <a16:creationId xmlns:a16="http://schemas.microsoft.com/office/drawing/2014/main" id="{4BC45123-7D60-336B-BAA5-0709A5609219}"/>
              </a:ext>
            </a:extLst>
          </p:cNvPr>
          <p:cNvSpPr txBox="1">
            <a:spLocks/>
          </p:cNvSpPr>
          <p:nvPr/>
        </p:nvSpPr>
        <p:spPr>
          <a:xfrm>
            <a:off x="334963" y="274565"/>
            <a:ext cx="11632327" cy="661924"/>
          </a:xfrm>
          <a:prstGeom prst="rect">
            <a:avLst/>
          </a:prstGeom>
        </p:spPr>
        <p:txBody>
          <a:bodyPr wrap="square"/>
          <a:lstStyle>
            <a:defPPr>
              <a:defRPr lang="ja-JP"/>
            </a:defPPr>
            <a:lvl1pPr>
              <a:defRPr sz="2000" b="1">
                <a:solidFill>
                  <a:srgbClr val="000000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Samsung Sharp Sans Bold" pitchFamily="2" charset="0"/>
              </a:defRPr>
            </a:lvl1pPr>
            <a:lvl2pPr marL="277262"/>
            <a:lvl3pPr marL="554524"/>
            <a:lvl4pPr marL="831786"/>
            <a:lvl5pPr marL="1109048"/>
            <a:lvl6pPr marL="1386310"/>
            <a:lvl7pPr marL="1663570"/>
            <a:lvl8pPr marL="1940834"/>
            <a:lvl9pPr marL="2218095"/>
          </a:lstStyle>
          <a:p>
            <a:r>
              <a:rPr lang="en-US" altLang="ja-JP" sz="1400" dirty="0"/>
              <a:t>URL (9/28</a:t>
            </a:r>
            <a:r>
              <a:rPr lang="ja-JP" altLang="en-US" sz="1400"/>
              <a:t>時点チェック</a:t>
            </a:r>
            <a:r>
              <a:rPr lang="en-US" altLang="ja-JP" sz="1400" dirty="0"/>
              <a:t>)</a:t>
            </a:r>
            <a:br>
              <a:rPr lang="en-US" altLang="ja-JP" sz="1400" dirty="0"/>
            </a:br>
            <a:r>
              <a:rPr lang="ja-JP" altLang="en-US" sz="1400">
                <a:solidFill>
                  <a:srgbClr val="0432FF"/>
                </a:solidFill>
              </a:rPr>
              <a:t>まとめ</a:t>
            </a:r>
            <a:endParaRPr lang="en-US" altLang="ja-JP" sz="1400" dirty="0">
              <a:solidFill>
                <a:schemeClr val="tx1"/>
              </a:solidFill>
              <a:sym typeface="Arial"/>
            </a:endParaRPr>
          </a:p>
        </p:txBody>
      </p:sp>
      <p:graphicFrame>
        <p:nvGraphicFramePr>
          <p:cNvPr id="12" name="表 11">
            <a:extLst>
              <a:ext uri="{FF2B5EF4-FFF2-40B4-BE49-F238E27FC236}">
                <a16:creationId xmlns:a16="http://schemas.microsoft.com/office/drawing/2014/main" id="{6422B483-C574-536A-2770-228384FA5C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2025226"/>
              </p:ext>
            </p:extLst>
          </p:nvPr>
        </p:nvGraphicFramePr>
        <p:xfrm>
          <a:off x="3169851" y="1221329"/>
          <a:ext cx="8568000" cy="3621545"/>
        </p:xfrm>
        <a:graphic>
          <a:graphicData uri="http://schemas.openxmlformats.org/drawingml/2006/table">
            <a:tbl>
              <a:tblPr/>
              <a:tblGrid>
                <a:gridCol w="252000">
                  <a:extLst>
                    <a:ext uri="{9D8B030D-6E8A-4147-A177-3AD203B41FA5}">
                      <a16:colId xmlns:a16="http://schemas.microsoft.com/office/drawing/2014/main" val="116544808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345194950"/>
                    </a:ext>
                  </a:extLst>
                </a:gridCol>
                <a:gridCol w="2736000">
                  <a:extLst>
                    <a:ext uri="{9D8B030D-6E8A-4147-A177-3AD203B41FA5}">
                      <a16:colId xmlns:a16="http://schemas.microsoft.com/office/drawing/2014/main" val="262686185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432084577"/>
                    </a:ext>
                  </a:extLst>
                </a:gridCol>
                <a:gridCol w="4068000">
                  <a:extLst>
                    <a:ext uri="{9D8B030D-6E8A-4147-A177-3AD203B41FA5}">
                      <a16:colId xmlns:a16="http://schemas.microsoft.com/office/drawing/2014/main" val="3695391631"/>
                    </a:ext>
                  </a:extLst>
                </a:gridCol>
              </a:tblGrid>
              <a:tr h="10934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No</a:t>
                      </a:r>
                    </a:p>
                  </a:txBody>
                  <a:tcPr marL="36000" marR="36000" marT="184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チェック項目</a:t>
                      </a:r>
                    </a:p>
                  </a:txBody>
                  <a:tcPr marL="36000" marR="36000" marT="184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7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36000" marR="36000" marT="184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判定</a:t>
                      </a:r>
                    </a:p>
                  </a:txBody>
                  <a:tcPr marL="36000" marR="36000" marT="184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結果</a:t>
                      </a:r>
                    </a:p>
                  </a:txBody>
                  <a:tcPr marL="36000" marR="36000" marT="184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0574528"/>
                  </a:ext>
                </a:extLst>
              </a:tr>
              <a:tr h="1128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7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1</a:t>
                      </a:r>
                    </a:p>
                  </a:txBody>
                  <a:tcPr marL="36000" marR="36000" marT="184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ja-JP" sz="7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HTTP Status</a:t>
                      </a:r>
                    </a:p>
                  </a:txBody>
                  <a:tcPr marL="36000" marR="36000" marT="184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HTTPレスポンスコードを確認し、Googlebot等のクローラが対象URLを正常取得できる状態（200 OK）かを判定します。</a:t>
                      </a:r>
                    </a:p>
                  </a:txBody>
                  <a:tcPr marL="36000" marR="36000" marT="184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rgbClr val="0432FF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sz="7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2494480"/>
                  </a:ext>
                </a:extLst>
              </a:tr>
              <a:tr h="1128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7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2</a:t>
                      </a:r>
                    </a:p>
                  </a:txBody>
                  <a:tcPr marL="36000" marR="36000" marT="184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ja-JP" sz="7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HTTPS</a:t>
                      </a:r>
                    </a:p>
                  </a:txBody>
                  <a:tcPr marL="36000" marR="36000" marT="184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TLSで暗号化されたHTTPS配信かを確認します。HTTPSは通信保護に加え、正規URL・リダイレクト設計の基盤になります。</a:t>
                      </a:r>
                    </a:p>
                  </a:txBody>
                  <a:tcPr marL="36000" marR="36000" marT="184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rgbClr val="0432FF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sz="7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6210002"/>
                  </a:ext>
                </a:extLst>
              </a:tr>
              <a:tr h="1128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7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3</a:t>
                      </a:r>
                    </a:p>
                  </a:txBody>
                  <a:tcPr marL="36000" marR="36000" marT="184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ja-JP" sz="7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Indexability</a:t>
                      </a:r>
                    </a:p>
                  </a:txBody>
                  <a:tcPr marL="36000" marR="36000" marT="184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robots.txt、meta robots、X-Robots-Tagなどのクロール／インデックス制御を確認し、検索エンジンのインデックス対象になれる状態かを判定します。</a:t>
                      </a:r>
                    </a:p>
                  </a:txBody>
                  <a:tcPr marL="36000" marR="36000" marT="184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rgbClr val="0432FF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sz="7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8895550"/>
                  </a:ext>
                </a:extLst>
              </a:tr>
              <a:tr h="1128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7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4</a:t>
                      </a:r>
                    </a:p>
                  </a:txBody>
                  <a:tcPr marL="36000" marR="36000" marT="184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ja-JP" sz="7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Canonical</a:t>
                      </a:r>
                    </a:p>
                  </a:txBody>
                  <a:tcPr marL="36000" marR="36000" marT="184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rel=canonicalの正規化シグナルを確認し、重複URL群の代表URLが実際の最終到達URLと整合しているかを判定します。</a:t>
                      </a:r>
                    </a:p>
                  </a:txBody>
                  <a:tcPr marL="36000" marR="36000" marT="184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rgbClr val="0432FF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sz="7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0335143"/>
                  </a:ext>
                </a:extLst>
              </a:tr>
              <a:tr h="1128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7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5</a:t>
                      </a:r>
                    </a:p>
                  </a:txBody>
                  <a:tcPr marL="36000" marR="36000" marT="184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ja-JP" sz="7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Title</a:t>
                      </a:r>
                    </a:p>
                  </a:txBody>
                  <a:tcPr marL="36000" marR="36000" marT="184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HTML &lt;title&gt;の有無と文字量を確認します。SERPのタイトル候補であり、検索エンジンがページ主題・クエリ関連性を理解する主要なオンページシグナルです。</a:t>
                      </a:r>
                    </a:p>
                  </a:txBody>
                  <a:tcPr marL="36000" marR="36000" marT="184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rgbClr val="0432FF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sz="7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9583711"/>
                  </a:ext>
                </a:extLst>
              </a:tr>
              <a:tr h="1307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7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6</a:t>
                      </a:r>
                    </a:p>
                  </a:txBody>
                  <a:tcPr marL="36000" marR="36000" marT="184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ja-JP" sz="7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Meta Description</a:t>
                      </a:r>
                    </a:p>
                  </a:txBody>
                  <a:tcPr marL="36000" marR="36000" marT="184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meta name=descriptionの有無と文字量を確認します。直接的なランキング要因ではありませんが、SERPスニペット候補としてCTRと検索意図の伝達に関与します。</a:t>
                      </a:r>
                    </a:p>
                  </a:txBody>
                  <a:tcPr marL="36000" marR="36000" marT="184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rgbClr val="0432FF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sz="7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1761082"/>
                  </a:ext>
                </a:extLst>
              </a:tr>
              <a:tr h="1128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7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7</a:t>
                      </a:r>
                    </a:p>
                  </a:txBody>
                  <a:tcPr marL="36000" marR="36000" marT="184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ja-JP" sz="7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H1</a:t>
                      </a:r>
                    </a:p>
                  </a:txBody>
                  <a:tcPr marL="36000" marR="36000" marT="184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最上位見出しH1の有無と個数を確認します。DOM上の見出しアウトラインとページの主題を明確化するセマンティックHTMLの基本要素です。</a:t>
                      </a:r>
                    </a:p>
                  </a:txBody>
                  <a:tcPr marL="36000" marR="36000" marT="184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rgbClr val="0432FF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sz="7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3872620"/>
                  </a:ext>
                </a:extLst>
              </a:tr>
              <a:tr h="15751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7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8</a:t>
                      </a:r>
                    </a:p>
                  </a:txBody>
                  <a:tcPr marL="36000" marR="36000" marT="184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ja-JP" sz="7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Heading Structure</a:t>
                      </a:r>
                    </a:p>
                  </a:txBody>
                  <a:tcPr marL="36000" marR="36000" marT="184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H1→H2→H3の見出し階層を確認し、heading levelのスキップや不自然なアウトラインがないかを判定します。</a:t>
                      </a:r>
                    </a:p>
                  </a:txBody>
                  <a:tcPr marL="36000" marR="36000" marT="184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rgbClr val="0432FF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sz="7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9615633"/>
                  </a:ext>
                </a:extLst>
              </a:tr>
              <a:tr h="1128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7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9</a:t>
                      </a:r>
                    </a:p>
                  </a:txBody>
                  <a:tcPr marL="36000" marR="36000" marT="184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ja-JP" sz="7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Lang Attribute</a:t>
                      </a:r>
                    </a:p>
                  </a:txBody>
                  <a:tcPr marL="36000" marR="36000" marT="184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html要素のlang属性を確認します。文書言語を検索エンジン、ブラウザ、スクリーンリーダーへ明示する国際化・アクセシビリティ上の基本設定です。</a:t>
                      </a:r>
                    </a:p>
                  </a:txBody>
                  <a:tcPr marL="36000" marR="36000" marT="184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rgbClr val="0432FF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sz="7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4841879"/>
                  </a:ext>
                </a:extLst>
              </a:tr>
              <a:tr h="1955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7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10</a:t>
                      </a:r>
                    </a:p>
                  </a:txBody>
                  <a:tcPr marL="36000" marR="36000" marT="184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ja-JP" sz="7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Image Alt</a:t>
                      </a:r>
                    </a:p>
                  </a:txBody>
                  <a:tcPr marL="36000" marR="36000" marT="184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コンテンツ画像候補のみを対象に、alt属性の有無を確認します。ナビゲーション・UI・装飾用途と推定される画像は集計・判定から除外します。</a:t>
                      </a:r>
                    </a:p>
                  </a:txBody>
                  <a:tcPr marL="36000" marR="36000" marT="184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rgbClr val="C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sz="7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4752358"/>
                  </a:ext>
                </a:extLst>
              </a:tr>
              <a:tr h="1128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7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11</a:t>
                      </a:r>
                    </a:p>
                  </a:txBody>
                  <a:tcPr marL="36000" marR="36000" marT="184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ja-JP" sz="7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Viewport</a:t>
                      </a:r>
                    </a:p>
                  </a:txBody>
                  <a:tcPr marL="36000" marR="36000" marT="184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meta viewportを確認します。モバイル端末でのCSS viewportを正しく設定し、レスポンシブレンダリングを成立させる基本要件です。</a:t>
                      </a:r>
                    </a:p>
                  </a:txBody>
                  <a:tcPr marL="36000" marR="36000" marT="184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rgbClr val="0432FF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sz="7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5956194"/>
                  </a:ext>
                </a:extLst>
              </a:tr>
              <a:tr h="1955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7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12</a:t>
                      </a:r>
                    </a:p>
                  </a:txBody>
                  <a:tcPr marL="36000" marR="36000" marT="184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ja-JP" sz="7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Schema Markup</a:t>
                      </a:r>
                    </a:p>
                  </a:txBody>
                  <a:tcPr marL="36000" marR="36000" marT="184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JSON-LD / Microdataの構造化データを検出し、JSON-LDの構文妥当性とSchema.orgの@typeを確認します。Google Rich Results Testの代替ではありません。</a:t>
                      </a:r>
                    </a:p>
                  </a:txBody>
                  <a:tcPr marL="36000" marR="36000" marT="184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rgbClr val="0432FF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sz="7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7615802"/>
                  </a:ext>
                </a:extLst>
              </a:tr>
              <a:tr h="26035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7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13</a:t>
                      </a:r>
                    </a:p>
                  </a:txBody>
                  <a:tcPr marL="36000" marR="36000" marT="184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ja-JP" sz="7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BreadcrumbList</a:t>
                      </a:r>
                    </a:p>
                  </a:txBody>
                  <a:tcPr marL="36000" marR="36000" marT="184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Schema.orgのBreadcrumbListを確認し、階層名・position・リンク先がページのパンくず構造と整合しているかを確認します。</a:t>
                      </a:r>
                    </a:p>
                  </a:txBody>
                  <a:tcPr marL="36000" marR="36000" marT="184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rgbClr val="0432FF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sz="7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3707047"/>
                  </a:ext>
                </a:extLst>
              </a:tr>
              <a:tr h="1955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7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14</a:t>
                      </a:r>
                    </a:p>
                  </a:txBody>
                  <a:tcPr marL="36000" marR="36000" marT="184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ja-JP" sz="7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HTML Validity</a:t>
                      </a:r>
                    </a:p>
                  </a:txBody>
                  <a:tcPr marL="36000" marR="36000" marT="184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DOM構造上の重大なHTML不整合を確認します。壊れたマークアップはレンダリング、アクセシビリティ、クローラ解釈に影響する可能性があります。</a:t>
                      </a:r>
                    </a:p>
                  </a:txBody>
                  <a:tcPr marL="36000" marR="36000" marT="184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rgbClr val="C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sz="7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001613"/>
                  </a:ext>
                </a:extLst>
              </a:tr>
              <a:tr h="15751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7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15</a:t>
                      </a:r>
                    </a:p>
                  </a:txBody>
                  <a:tcPr marL="36000" marR="36000" marT="184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ja-JP" sz="7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Final URL / Redirect</a:t>
                      </a:r>
                    </a:p>
                  </a:txBody>
                  <a:tcPr marL="36000" marR="36000" marT="184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入力URLから最終到達URLまでのリダイレクト有無を確認します。公開URL・canonical・内部リンクでURL表記を統一するための確認項目です。</a:t>
                      </a:r>
                    </a:p>
                  </a:txBody>
                  <a:tcPr marL="36000" marR="36000" marT="184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rgbClr val="0432FF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sz="7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7949157"/>
                  </a:ext>
                </a:extLst>
              </a:tr>
              <a:tr h="1128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7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16</a:t>
                      </a:r>
                    </a:p>
                  </a:txBody>
                  <a:tcPr marL="36000" marR="36000" marT="184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ja-JP" sz="7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Hreflang</a:t>
                      </a:r>
                    </a:p>
                  </a:txBody>
                  <a:tcPr marL="36000" marR="36000" marT="184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link rel=alternate hreflangの設定を確認します。言語・地域別URLがあるサイトで検索エンジンへ対応関係を伝える国際SEOシグナルです。</a:t>
                      </a:r>
                    </a:p>
                  </a:txBody>
                  <a:tcPr marL="36000" marR="36000" marT="184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rgbClr val="0432FF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sz="7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164078"/>
                  </a:ext>
                </a:extLst>
              </a:tr>
              <a:tr h="1128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7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17</a:t>
                      </a:r>
                    </a:p>
                  </a:txBody>
                  <a:tcPr marL="36000" marR="36000" marT="184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ja-JP" sz="7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Open Graph</a:t>
                      </a:r>
                    </a:p>
                  </a:txBody>
                  <a:tcPr marL="36000" marR="36000" marT="184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og:title、og:description、og:image、og:url等のOpen Graphメタデータを確認します。SNS共有時の表示品質とURL整合性を確認します。</a:t>
                      </a:r>
                    </a:p>
                  </a:txBody>
                  <a:tcPr marL="36000" marR="36000" marT="184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rgbClr val="0432FF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sz="7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6012909"/>
                  </a:ext>
                </a:extLst>
              </a:tr>
              <a:tr h="1128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7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18</a:t>
                      </a:r>
                    </a:p>
                  </a:txBody>
                  <a:tcPr marL="36000" marR="36000" marT="184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ja-JP" sz="7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Twitter Card</a:t>
                      </a:r>
                    </a:p>
                  </a:txBody>
                  <a:tcPr marL="36000" marR="36000" marT="184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twitter:card、twitter:title、twitter:description、twitter:image等を確認し、X等で共有された際のカード情報を検証します。</a:t>
                      </a:r>
                    </a:p>
                  </a:txBody>
                  <a:tcPr marL="36000" marR="36000" marT="184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rgbClr val="0432FF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sz="7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3249973"/>
                  </a:ext>
                </a:extLst>
              </a:tr>
              <a:tr h="1128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7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19</a:t>
                      </a:r>
                    </a:p>
                  </a:txBody>
                  <a:tcPr marL="36000" marR="36000" marT="184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ja-JP" sz="7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Internal Links</a:t>
                      </a:r>
                    </a:p>
                  </a:txBody>
                  <a:tcPr marL="36000" marR="36000" marT="184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対象ページ内の内部リンクとリンク切れ（404）を確認します。javascript:等のリンクは参考情報として件数のみ表示し、判定には使用しません。</a:t>
                      </a:r>
                    </a:p>
                  </a:txBody>
                  <a:tcPr marL="36000" marR="36000" marT="184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rgbClr val="0432FF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sz="7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6473406"/>
                  </a:ext>
                </a:extLst>
              </a:tr>
              <a:tr h="15751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7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20</a:t>
                      </a:r>
                    </a:p>
                  </a:txBody>
                  <a:tcPr marL="36000" marR="36000" marT="184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ja-JP" sz="7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Charset / Content-Type</a:t>
                      </a:r>
                    </a:p>
                  </a:txBody>
                  <a:tcPr marL="36000" marR="36000" marT="184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HTTP Content-TypeとHTML charset宣言を確認します。文字コードの不整合はHTML解析・文字化け・メタ情報解釈に影響する可能性があります。</a:t>
                      </a:r>
                    </a:p>
                  </a:txBody>
                  <a:tcPr marL="36000" marR="36000" marT="184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rgbClr val="0432FF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sz="7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50259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8755350"/>
      </p:ext>
    </p:extLst>
  </p:cSld>
  <p:clrMapOvr>
    <a:masterClrMapping/>
  </p:clrMapOvr>
</p:sld>
</file>

<file path=ppt/theme/theme1.xml><?xml version="1.0" encoding="utf-8"?>
<a:theme xmlns:a="http://schemas.openxmlformats.org/drawingml/2006/main" name="samsungtheme">
  <a:themeElements>
    <a:clrScheme name="ユーザー定義 12">
      <a:dk1>
        <a:srgbClr val="000000"/>
      </a:dk1>
      <a:lt1>
        <a:srgbClr val="FFFFFF"/>
      </a:lt1>
      <a:dk2>
        <a:srgbClr val="1428A0"/>
      </a:dk2>
      <a:lt2>
        <a:srgbClr val="6E6969"/>
      </a:lt2>
      <a:accent1>
        <a:srgbClr val="42526A"/>
      </a:accent1>
      <a:accent2>
        <a:srgbClr val="D5DCE7"/>
      </a:accent2>
      <a:accent3>
        <a:srgbClr val="DADADA"/>
      </a:accent3>
      <a:accent4>
        <a:srgbClr val="96D653"/>
      </a:accent4>
      <a:accent5>
        <a:srgbClr val="FFB545"/>
      </a:accent5>
      <a:accent6>
        <a:srgbClr val="FF4337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/>
        </a:solidFill>
        <a:ln w="9525" cap="flat" cmpd="sng" algn="ctr">
          <a:solidFill>
            <a:srgbClr val="00206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0" tIns="45704" rIns="0" bIns="45704" numCol="1" spcCol="0" rtlCol="0" anchor="t" anchorCtr="0" compatLnSpc="1">
        <a:prstTxWarp prst="textNoShape">
          <a:avLst/>
        </a:prstTxWarp>
        <a:noAutofit/>
      </a:bodyPr>
      <a:lstStyle>
        <a:defPPr algn="ctr" defTabSz="761739" fontAlgn="base" latinLnBrk="0">
          <a:spcBef>
            <a:spcPct val="0"/>
          </a:spcBef>
          <a:spcAft>
            <a:spcPct val="0"/>
          </a:spcAft>
          <a:defRPr kumimoji="1" sz="2100" b="1" dirty="0" smtClean="0">
            <a:latin typeface="Samsung Sharp Sans Bold" pitchFamily="2" charset="0"/>
            <a:ea typeface="맑은 고딕" panose="020B0503020000020004" pitchFamily="50" charset="-127"/>
            <a:cs typeface="Samsung Sharp Sans Bold" pitchFamily="2" charset="0"/>
          </a:defRPr>
        </a:defPPr>
      </a:lstStyle>
    </a:spDef>
    <a:lnDef>
      <a:spPr>
        <a:ln w="63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amsungtheme" id="{C4274082-643E-9A44-AFE7-ACFEC47CED22}" vid="{E24C3D57-8EB8-7642-BF52-9C055228CD8F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290074</TotalTime>
  <Words>705</Words>
  <Application>Microsoft Macintosh PowerPoint</Application>
  <PresentationFormat>ワイド画面</PresentationFormat>
  <Paragraphs>66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Meiryo UI</vt:lpstr>
      <vt:lpstr>SamsungOne 700</vt:lpstr>
      <vt:lpstr>游ゴシック</vt:lpstr>
      <vt:lpstr>Arial</vt:lpstr>
      <vt:lpstr>samsungtheme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sej-user</dc:creator>
  <cp:lastModifiedBy>Ascent Networks</cp:lastModifiedBy>
  <cp:revision>39503</cp:revision>
  <cp:lastPrinted>2023-03-22T06:52:39Z</cp:lastPrinted>
  <dcterms:created xsi:type="dcterms:W3CDTF">2020-09-16T05:59:45Z</dcterms:created>
  <dcterms:modified xsi:type="dcterms:W3CDTF">2026-09-28T09:45:12Z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  <property fmtid="{D5CDD505-2E9C-101B-9397-08002B2CF9AE}" pid="3" name="NSCPROP_SA">
    <vt:lpwstr>D:\PCTransImage\C\Users\r1.aso\Desktop\Note20U IMC 1 0916.pptx</vt:lpwstr>
  </property>
</Properties>
</file>